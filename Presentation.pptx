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  <p:embeddedFontLst>
    <p:embeddedFont>
      <p:font typeface="Poppins"/>
      <p:regular r:id="rId23"/>
    </p:embeddedFont>
    <p:embeddedFont>
      <p:font typeface="Poppins"/>
      <p:regular r:id="rId24"/>
    </p:embeddedFont>
    <p:embeddedFont>
      <p:font typeface="Poppins"/>
      <p:regular r:id="rId25"/>
    </p:embeddedFont>
    <p:embeddedFont>
      <p:font typeface="Poppins"/>
      <p:regular r:id="rId26"/>
    </p:embeddedFont>
    <p:embeddedFont>
      <p:font typeface="Montserrat"/>
      <p:regular r:id="rId27"/>
    </p:embeddedFont>
    <p:embeddedFont>
      <p:font typeface="Montserrat"/>
      <p:regular r:id="rId28"/>
    </p:embeddedFont>
    <p:embeddedFont>
      <p:font typeface="Montserrat"/>
      <p:regular r:id="rId29"/>
    </p:embeddedFont>
    <p:embeddedFont>
      <p:font typeface="Montserrat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blastchar/telco-customer-churn/data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2.svg"/><Relationship Id="rId4" Type="http://schemas.openxmlformats.org/officeDocument/2006/relationships/image" Target="../media/image-4-3.png"/><Relationship Id="rId5" Type="http://schemas.openxmlformats.org/officeDocument/2006/relationships/image" Target="../media/image-4-4.svg"/><Relationship Id="rId6" Type="http://schemas.openxmlformats.org/officeDocument/2006/relationships/image" Target="../media/image-4-5.png"/><Relationship Id="rId7" Type="http://schemas.openxmlformats.org/officeDocument/2006/relationships/image" Target="../media/image-4-6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svg"/><Relationship Id="rId12" Type="http://schemas.openxmlformats.org/officeDocument/2006/relationships/slideLayout" Target="../slideLayouts/slideLayout13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1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8" Type="http://schemas.openxmlformats.org/officeDocument/2006/relationships/image" Target="../media/image-14-8.png"/><Relationship Id="rId9" Type="http://schemas.openxmlformats.org/officeDocument/2006/relationships/image" Target="../media/image-14-9.sv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svg"/><Relationship Id="rId12" Type="http://schemas.openxmlformats.org/officeDocument/2006/relationships/slideLayout" Target="../slideLayouts/slideLayout15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svg"/><Relationship Id="rId8" Type="http://schemas.openxmlformats.org/officeDocument/2006/relationships/image" Target="../media/image-15-8.png"/><Relationship Id="rId9" Type="http://schemas.openxmlformats.org/officeDocument/2006/relationships/image" Target="../media/image-15-9.sv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sv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svg"/><Relationship Id="rId14" Type="http://schemas.openxmlformats.org/officeDocument/2006/relationships/slideLayout" Target="../slideLayouts/slideLayout16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241352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Customer Churn Prediction &amp; ROI-Backend Playbook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704398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 Aastha Gupta | Riya Singh | Siddhi Nyati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Guide: Mr. Ankush Soni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64153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“Predict. Protect. Profit.”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26093"/>
            <a:ext cx="57161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16372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churn is a critical challenge that directly affects recurring revenue and business stability.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3100864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Acquiring a new customer costs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5–10×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more than retaining an existing one.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387000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Reducing churn by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can increase profits by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25–55%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4292441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analytics fail to capture complex churn patterns and lack interpretability.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309" y="5310783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Project Goal: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58309" y="6063258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 machine learning–driven churn prediction system that identifies at-risk customers early and enables data-backed decision-making.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3626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Project Objectives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3682246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0673" y="38108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Predict Churn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70673" y="4296966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and evaluate ML models to accurately identify customers at risk of churn.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682246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2183" y="3810833"/>
            <a:ext cx="337839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Identify Key Drivers (SHAP)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32183" y="4653201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SHAP explainability to uncover the most influential factors behind churn.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3682246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93693" y="3810833"/>
            <a:ext cx="328195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Develop Streamlit App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93693" y="4296966"/>
            <a:ext cx="337839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an interactive Streamlit application with predictions, SHAP insights, and ROI analytics.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155" y="523399"/>
            <a:ext cx="5008959" cy="626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Dataset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6155" y="1434941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u="sng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~Link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6155" y="1953578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7,043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rows (customers)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6155" y="2324695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features describing customer behavior and account details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6155" y="2695813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variable: Churn (Yes/No)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6155" y="3285887"/>
            <a:ext cx="3005376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Feature Categories</a:t>
            </a:r>
            <a:endParaRPr lang="en-US" sz="2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55" y="3947041"/>
            <a:ext cx="475774" cy="4757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9815" y="4060031"/>
            <a:ext cx="325207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Customer Demographics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79815" y="4487347"/>
            <a:ext cx="3560445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Gender, Senior Citizen, Partner, Dependents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8147" y="3947041"/>
            <a:ext cx="475774" cy="4757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1808" y="4060031"/>
            <a:ext cx="250448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Services Used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891808" y="4487347"/>
            <a:ext cx="3560445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 service, Multiple lines, Internet type (DSL, Fiber), Online security, Backup, Device protection, Tech support, Streaming TV/Movies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0140" y="3947041"/>
            <a:ext cx="475774" cy="4757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03800" y="4060031"/>
            <a:ext cx="3560445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Account &amp; Billing Information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0403800" y="4800481"/>
            <a:ext cx="3560445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Tenure (months), Contract type, Paperless billing, Payment method, Monthly &amp; Total charges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6155" y="5999678"/>
            <a:ext cx="404372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This Dataset Is Useful</a:t>
            </a:r>
            <a:endParaRPr lang="en-US" sz="2350" dirty="0"/>
          </a:p>
        </p:txBody>
      </p:sp>
      <p:sp>
        <p:nvSpPr>
          <p:cNvPr id="18" name="Text 13"/>
          <p:cNvSpPr/>
          <p:nvPr/>
        </p:nvSpPr>
        <p:spPr>
          <a:xfrm>
            <a:off x="666155" y="6660833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Well-structured and widely used in churn research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66155" y="7031950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rich behavioral + demographic attributes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66155" y="7403068"/>
            <a:ext cx="1329809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Enables accurate churn modeling and explainability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678543"/>
            <a:ext cx="13063061" cy="4872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243" y="482560"/>
            <a:ext cx="4618434" cy="57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EDA Insights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243" y="1410772"/>
            <a:ext cx="13401913" cy="3366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4243" y="5149810"/>
            <a:ext cx="230921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Tenure vs Churn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14243" y="5614035"/>
            <a:ext cx="4135755" cy="84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who churn typically have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short tenure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mostly within the first 0–12 months.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4243" y="6517600"/>
            <a:ext cx="4135755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Longer-tenure customers show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loyalty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significantly lower churn.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4243" y="7140416"/>
            <a:ext cx="4135755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Early-stage retention is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crucial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reducing overall churn.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185767" y="5149810"/>
            <a:ext cx="3154561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Monthly Charges vs Churn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85767" y="5614035"/>
            <a:ext cx="4135755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Churned customers generally experience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monthly charges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185767" y="6236851"/>
            <a:ext cx="4135755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Indicates price sensitivity—customers paying more are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likely to leave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85767" y="6859667"/>
            <a:ext cx="4135755" cy="84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 the need for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optimization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or bundles for high-cost segments.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757291" y="5149810"/>
            <a:ext cx="2778681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Total Charges vs Churn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57291" y="5614035"/>
            <a:ext cx="4273987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Churned customers have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 total charges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meaning their overall lifetime value is low.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757291" y="6236851"/>
            <a:ext cx="4273987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confirms they often leave early, before contributing much revenue.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757291" y="6859667"/>
            <a:ext cx="4273987" cy="84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Improving customer onboarding and engagement early could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significantly reduce churn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0309" y="448032"/>
            <a:ext cx="4986814" cy="536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Tenure Group Analysis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70309" y="1374934"/>
            <a:ext cx="654617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Distribution by Tenure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521535" y="1374934"/>
            <a:ext cx="654617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Rate by Tenure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309" y="1965484"/>
            <a:ext cx="13489781" cy="47490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0309" y="6958846"/>
            <a:ext cx="2572822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0309" y="7524750"/>
            <a:ext cx="13489781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loyalty strengthens with tenure. New customers (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0–1 year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are the most vulnerable, showing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47.7% churn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while long-term customers (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4+ years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have the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 churn at 9.5%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0309" y="8229481"/>
            <a:ext cx="134897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Improving onboarding and early engagement can significantly reduce churn among new joiners.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47844"/>
            <a:ext cx="99113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Class Imbalance with SMOTE-ENN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02048"/>
            <a:ext cx="285440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BEFORE SMOTE-ENN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67485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Resampling (Original Training Data):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21647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0 — No Churn: 4,139 (73.46%)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363890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1 — Churn: 1,495 (26.54%)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418052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Imbalance Ratio: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F4444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2.77 :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472213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was biased toward the majority class, leading to false negatives by missing potential churners.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21020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AFTER SMOTE-ENN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7139" y="267485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Applying SMOTE-ENN: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321647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0 — No Churn: 2,228 (44.43%)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363890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1 — Churn: 2,787 (55.57%)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7139" y="418052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Ratio: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highlight>
                  <a:srgbClr val="10B981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0.80 :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7139" y="4722138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SMOTE generated new churn samples, and ENN removed noisy majority points, producing a balanced and cleaner dataset.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83231" y="6444615"/>
            <a:ext cx="127888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SMOTE-ENN transformed the dataset from heavily imbalanced to nearly balanced, allowing the model to learn churn patterns more effectively.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8309" y="6200894"/>
            <a:ext cx="30480" cy="1180862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53678"/>
            <a:ext cx="952190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 Performance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1999655"/>
            <a:ext cx="13113782" cy="4439126"/>
          </a:xfrm>
          <a:prstGeom prst="roundRect">
            <a:avLst>
              <a:gd name="adj" fmla="val 20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29" y="2007275"/>
            <a:ext cx="13101161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82742" y="2144792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Name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70039" y="2144792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 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53526" y="2144792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37013" y="2144792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20501" y="2144792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 Score 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903988" y="2144792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 - AUC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5929" y="2629019"/>
            <a:ext cx="13101161" cy="9684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2742" y="2766536"/>
            <a:ext cx="17465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70039" y="2766536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0.698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53526" y="2766536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0.463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37013" y="2766536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0.864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720501" y="2766536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0.716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903988" y="2766536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A2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0.835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5929" y="3597473"/>
            <a:ext cx="13101161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82742" y="3734991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Tree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170039" y="3734991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0.713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53526" y="3734991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0.475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37013" y="3734991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0.775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20501" y="3734991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0.729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903988" y="3734991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0.753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65929" y="4219218"/>
            <a:ext cx="13101161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82742" y="4356735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70039" y="4356735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0.731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53526" y="4356735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0.496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537013" y="4356735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0.799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720501" y="4356735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0.746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903988" y="4356735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0.832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65929" y="4840962"/>
            <a:ext cx="13101161" cy="9684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82742" y="4978479"/>
            <a:ext cx="17465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Boosting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170039" y="4978479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0.732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353526" y="4978479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0.497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537013" y="4978479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0.789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720501" y="4978479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0.747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1903988" y="4978479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0.834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65929" y="5809417"/>
            <a:ext cx="13101161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2742" y="5946934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A2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170039" y="5946934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A2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0.737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353526" y="5946934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A2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0.503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537013" y="5946934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0.775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720501" y="5946934"/>
            <a:ext cx="17427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A2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0.750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1903988" y="5946934"/>
            <a:ext cx="17465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0.828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58309" y="6682502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 consistently achieved the highest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Accuracy, Recall, and F1-Score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making it the top performer for churn prediction.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14036"/>
            <a:ext cx="894338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Final Model Selection: XGBoost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851666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F8FAFC"/>
          </a:solidFill>
          <a:ln w="30480">
            <a:solidFill>
              <a:srgbClr val="C3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829" y="285166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1096804" y="30987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Highest Accuracy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6804" y="3584853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Achieved the best overall accuracy among all models tested.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2851666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F8FAFC"/>
          </a:solidFill>
          <a:ln w="30480">
            <a:solidFill>
              <a:srgbClr val="C3B5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2948" y="285166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61923" y="30987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Superior F1-Score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61923" y="3584853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an F1-score of 0.750, it demonstrates excellent balance between precision and recall.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309" y="4741902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F8FAFC"/>
          </a:solidFill>
          <a:ln w="30480">
            <a:solidFill>
              <a:srgbClr val="C3B5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29" y="4741902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6804" y="4988957"/>
            <a:ext cx="33703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Balanced Performance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6804" y="5475089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Maintains strong recall and precision, crucial for identifying churners effectively.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428" y="4741902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F8FAFC"/>
          </a:solidFill>
          <a:ln w="30480">
            <a:solidFill>
              <a:srgbClr val="C3B5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2948" y="4741902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61923" y="4988957"/>
            <a:ext cx="356151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Handles Imbalance Well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61923" y="5475089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performance even with imbalanced datasets, a common challenge in churn prediction.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110" y="392192"/>
            <a:ext cx="9863614" cy="46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Top Features Influencing Churn (SHAP Importance)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1235631"/>
            <a:ext cx="5803225" cy="66111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9110" y="8007191"/>
            <a:ext cx="5803225" cy="68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bar chart displays the average absolute SHAP value per feature — a measure of each feature’s average impact on the model’s churn prediction. Longer bars = larger contribution to model output (higher importance).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57856" y="1217771"/>
            <a:ext cx="2766417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Top drivers (highest impact)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57856" y="1594842"/>
            <a:ext cx="748093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strongest influence on churn (short-term contracts → higher churn).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57856" y="1872853"/>
            <a:ext cx="748093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Tenure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shorter tenure increases churn risk.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57856" y="2150864"/>
            <a:ext cx="748093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MonthlyCharges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higher monthly costs push churn probability up.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57856" y="2610623"/>
            <a:ext cx="7480935" cy="2536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657856" y="2796302"/>
            <a:ext cx="2185988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Other notable features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57856" y="3173373"/>
            <a:ext cx="7480935" cy="91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OnlineSecurity, TechSupport, PaperlessBilling, PaymentMethod, InternetService — meaningful influences; some protective (service bundles), some risk (paperless &amp; payment types). TotalCharges lower importance than MonthlyCharges, indicating recent billing matters more than lifetime spend for churn signal.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57856" y="4317503"/>
            <a:ext cx="7480935" cy="2536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657856" y="4503182"/>
            <a:ext cx="332351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Business implication / actionables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57856" y="4880253"/>
            <a:ext cx="748093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retention for month-to-month contract customers and new joiners.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57856" y="5158264"/>
            <a:ext cx="748093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early engagement + cost-sensitive offers for high monthly-charge customers.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57856" y="5436275"/>
            <a:ext cx="748093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bundles (security/support/streaming) to reduce churn probability.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854" y="429578"/>
            <a:ext cx="8014454" cy="513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SHAP Summary Plot — Feature Impact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54" y="1353503"/>
            <a:ext cx="4070509" cy="4757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6854" y="6286976"/>
            <a:ext cx="7273528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dot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one customer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6854" y="6591538"/>
            <a:ext cx="7273528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feature value (Red = high, Blue = low)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6854" y="6896100"/>
            <a:ext cx="7273528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 value &gt; 0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increases churn probability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6854" y="7200662"/>
            <a:ext cx="7273528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 value &lt; 0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reduces churn probability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09240" y="1318379"/>
            <a:ext cx="5881807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SHAP summary plot shows how each feature influences churn predictions, combining both feature importance and direction of impact.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09240" y="1974413"/>
            <a:ext cx="32699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Insights From the Plot</a:t>
            </a:r>
            <a:endParaRPr lang="en-US" sz="1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7819" y="2466261"/>
            <a:ext cx="234315" cy="2343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16923" y="2458522"/>
            <a:ext cx="5374124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 Type: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Month-to-month contracts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(high values) push churn higher; long-term contracts reduce churn.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7819" y="3278505"/>
            <a:ext cx="234315" cy="2343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16923" y="3270766"/>
            <a:ext cx="5374124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Tenure: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tenure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strongly increases churn risk; long tenure reduces it.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7819" y="4090749"/>
            <a:ext cx="234315" cy="2343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16923" y="4083010"/>
            <a:ext cx="5374124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Charges: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monthly fees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push predictions toward churn.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7819" y="4902994"/>
            <a:ext cx="234315" cy="2343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16923" y="4895255"/>
            <a:ext cx="5374124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&amp; Security Services: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OnlineSecurity, TechSupport, DeviceProtection reduce churn when enabled.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67819" y="5715238"/>
            <a:ext cx="234315" cy="23431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716923" y="5707499"/>
            <a:ext cx="5374124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Bundles &amp; Streaming Services: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Customers with streaming add-ons show lower churn impact.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553" y="332065"/>
            <a:ext cx="7479387" cy="39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SHAP Dependence Plots — Top 3 Churn Drivers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2553" y="970717"/>
            <a:ext cx="1378529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dependence plots reveal how specific feature values influence churn probability and how these effects interact with other variables.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53" y="1299686"/>
            <a:ext cx="13418939" cy="369808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97" y="5137309"/>
            <a:ext cx="181094" cy="1810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4983" y="5133618"/>
            <a:ext cx="3694986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Contract Type</a:t>
            </a:r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— Strongest Predictor of Churn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14983" y="5404604"/>
            <a:ext cx="1339286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Month-to-month contracts show high SHAP values → sharply increased churn risk.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14983" y="5639872"/>
            <a:ext cx="1339286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One-year and two-year contracts shift SHAP values downward → reduced churn.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797" y="6078141"/>
            <a:ext cx="181094" cy="1810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983" y="6074450"/>
            <a:ext cx="3226118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Tenure</a:t>
            </a:r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— Longer Tenure Reduces Churn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14983" y="6345436"/>
            <a:ext cx="1339286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customers (low tenure) show strong positive SHAP values → high churn risk.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14983" y="6580703"/>
            <a:ext cx="1339286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tenure increases, SHAP values move negative → churn likelihood decreases.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797" y="7018973"/>
            <a:ext cx="181094" cy="1810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4983" y="7015282"/>
            <a:ext cx="3652838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Monthly Charges</a:t>
            </a:r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— High Bills Increase Churn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814983" y="7286268"/>
            <a:ext cx="1339286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charges correspond to negative SHAP values → lower churn probability.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814983" y="7521535"/>
            <a:ext cx="1339286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monthly charges push predictions toward churn → indicates price sensitivity.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22553" y="7895749"/>
            <a:ext cx="1906667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22553" y="8315087"/>
            <a:ext cx="13785294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cost + low commitment + short tenure form the strongest churn-risk patterns. These insights guide targeted retention: contract upgrades, early engagement, and pricing interventions.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463" y="542806"/>
            <a:ext cx="9388912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2563E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Customer #34 Is Likely to Churn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57463" y="1442442"/>
            <a:ext cx="13315474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predicts Customer #34 will churn due to several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high-risk factors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63" y="2165390"/>
            <a:ext cx="5745361" cy="44098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7463" y="6786443"/>
            <a:ext cx="7117318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+ high charges + low commitment + no service bundles = high churn risk.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40554" y="2141934"/>
            <a:ext cx="2966085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Top Risk Drivers</a:t>
            </a:r>
            <a:endParaRPr lang="en-US" sz="2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0920" y="2733139"/>
            <a:ext cx="281702" cy="2817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50868" y="2723793"/>
            <a:ext cx="5129570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Month-to-month contract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Low commitment increases churn probability.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0920" y="3709809"/>
            <a:ext cx="281702" cy="281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50868" y="3700463"/>
            <a:ext cx="512957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tenure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New customers churn more frequently.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0920" y="4658261"/>
            <a:ext cx="281702" cy="2817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50868" y="4648914"/>
            <a:ext cx="5129570" cy="90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security/backup services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Missing OnlineSecurity, TechSupport, OnlineBackup reduces loyalty.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0920" y="5935444"/>
            <a:ext cx="281702" cy="2817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50868" y="5926098"/>
            <a:ext cx="512957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monthly charges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Price sensitivity drives churn.</a:t>
            </a:r>
            <a:endParaRPr lang="en-US" sz="14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0920" y="6883896"/>
            <a:ext cx="281702" cy="28170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850868" y="6874550"/>
            <a:ext cx="5129570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Risky payment method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Electronic check users churn more often.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427" y="701635"/>
            <a:ext cx="12732425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SHAP Force Plot — How Features Push This Churn Prediction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60427" y="1828919"/>
            <a:ext cx="66984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plot shows the direction and strength of influence: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0427" y="2229207"/>
            <a:ext cx="66984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Pink/red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push prediction higher (toward churn)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0427" y="2541389"/>
            <a:ext cx="66984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push prediction lower (toward no churn)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0427" y="2853571"/>
            <a:ext cx="66984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Length of bar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magnitude of impact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0427" y="3253859"/>
            <a:ext cx="6698456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Customer #34, the prediction is strongly pushed upward, resulting in a high churn probability.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427" y="3946446"/>
            <a:ext cx="6698456" cy="13637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0427" y="5490329"/>
            <a:ext cx="2528530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Final Interpretation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60427" y="5966579"/>
            <a:ext cx="6698456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forces (red) push strongly toward churn, confirming this customer as high risk. This validates the waterfall and dependence plots for Customer #34.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57028" y="1628775"/>
            <a:ext cx="3912989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Strong Positive Push (toward churn)</a:t>
            </a:r>
            <a:endParaRPr lang="en-US" sz="16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7036" y="2080260"/>
            <a:ext cx="240149" cy="2401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77451" y="2072283"/>
            <a:ext cx="5900023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PaymentMethod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electronic check, high churn risk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7036" y="2888933"/>
            <a:ext cx="240149" cy="2401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77451" y="2880955"/>
            <a:ext cx="5900023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Month-to-month contract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7036" y="3697605"/>
            <a:ext cx="240149" cy="2401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77451" y="3689628"/>
            <a:ext cx="5900023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MonthlyCharges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7036" y="4506278"/>
            <a:ext cx="240149" cy="2401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77451" y="4498300"/>
            <a:ext cx="5900023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tenure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17036" y="5314950"/>
            <a:ext cx="240149" cy="24014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77451" y="5306973"/>
            <a:ext cx="5900023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security/support services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(No Tech Support / No Online Security)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7657028" y="5999559"/>
            <a:ext cx="6420445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features collectively push the prediction far above the base value.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7657028" y="6415921"/>
            <a:ext cx="3473887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Minor Negative Push (retention)</a:t>
            </a:r>
            <a:endParaRPr lang="en-US" sz="16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17036" y="6867406"/>
            <a:ext cx="240149" cy="24014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177451" y="6859429"/>
            <a:ext cx="5900023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stabilizing effects from internet service and minor features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3535" y="2447687"/>
            <a:ext cx="11403211" cy="142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0"/>
              </a:lnSpc>
              <a:buNone/>
            </a:pPr>
            <a:r>
              <a:rPr lang="en-US" sz="8950" b="1" dirty="0">
                <a:solidFill>
                  <a:srgbClr val="0F172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Thank You</a:t>
            </a:r>
            <a:endParaRPr lang="en-US" sz="8950" dirty="0"/>
          </a:p>
        </p:txBody>
      </p:sp>
      <p:sp>
        <p:nvSpPr>
          <p:cNvPr id="3" name="Text 1"/>
          <p:cNvSpPr/>
          <p:nvPr/>
        </p:nvSpPr>
        <p:spPr>
          <a:xfrm>
            <a:off x="758309" y="4306372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Predict. Protect. Profit. 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8309" y="4983480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ChurnGuru — Customer Churn Prediction &amp; ROI-Backend Retention Playbook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58309" y="5504498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 Aastha Gupta | Riya Singh | Siddhi Nyati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2025-12-06T18:04:45Z</dcterms:created>
  <dcterms:modified xsi:type="dcterms:W3CDTF">2025-12-06T18:04:45Z</dcterms:modified>
</cp:coreProperties>
</file>